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5A253-6F5A-435C-9B9E-2C1C74C1331D}" v="12" dt="2026-01-13T20:05:10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94610"/>
  </p:normalViewPr>
  <p:slideViewPr>
    <p:cSldViewPr snapToGrid="0" snapToObjects="1">
      <p:cViewPr>
        <p:scale>
          <a:sx n="155" d="100"/>
          <a:sy n="155" d="100"/>
        </p:scale>
        <p:origin x="16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Chen" userId="8a8611c0-0ea2-4276-b3d1-8d1a06cb7c9c" providerId="ADAL" clId="{3DD68794-59CD-48DC-A574-6DA3FC6847EF}"/>
    <pc:docChg chg="undo custSel modSld">
      <pc:chgData name="Chen Chen" userId="8a8611c0-0ea2-4276-b3d1-8d1a06cb7c9c" providerId="ADAL" clId="{3DD68794-59CD-48DC-A574-6DA3FC6847EF}" dt="2026-01-13T21:14:48.120" v="1496" actId="1076"/>
      <pc:docMkLst>
        <pc:docMk/>
      </pc:docMkLst>
      <pc:sldChg chg="addSp delSp mod modNotesTx">
        <pc:chgData name="Chen Chen" userId="8a8611c0-0ea2-4276-b3d1-8d1a06cb7c9c" providerId="ADAL" clId="{3DD68794-59CD-48DC-A574-6DA3FC6847EF}" dt="2026-01-13T20:02:59.692" v="26" actId="20577"/>
        <pc:sldMkLst>
          <pc:docMk/>
          <pc:sldMk cId="0" sldId="256"/>
        </pc:sldMkLst>
        <pc:spChg chg="add del">
          <ac:chgData name="Chen Chen" userId="8a8611c0-0ea2-4276-b3d1-8d1a06cb7c9c" providerId="ADAL" clId="{3DD68794-59CD-48DC-A574-6DA3FC6847EF}" dt="2026-01-13T19:59:37.884" v="2" actId="478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mod modNotesTx">
        <pc:chgData name="Chen Chen" userId="8a8611c0-0ea2-4276-b3d1-8d1a06cb7c9c" providerId="ADAL" clId="{3DD68794-59CD-48DC-A574-6DA3FC6847EF}" dt="2026-01-13T20:08:35.323" v="38" actId="20577"/>
        <pc:sldMkLst>
          <pc:docMk/>
          <pc:sldMk cId="0" sldId="257"/>
        </pc:sldMkLst>
        <pc:spChg chg="mod">
          <ac:chgData name="Chen Chen" userId="8a8611c0-0ea2-4276-b3d1-8d1a06cb7c9c" providerId="ADAL" clId="{3DD68794-59CD-48DC-A574-6DA3FC6847EF}" dt="2026-01-13T20:08:35.323" v="38" actId="20577"/>
          <ac:spMkLst>
            <pc:docMk/>
            <pc:sldMk cId="0" sldId="257"/>
            <ac:spMk id="14" creationId="{00000000-0000-0000-0000-000000000000}"/>
          </ac:spMkLst>
        </pc:spChg>
        <pc:spChg chg="add del">
          <ac:chgData name="Chen Chen" userId="8a8611c0-0ea2-4276-b3d1-8d1a06cb7c9c" providerId="ADAL" clId="{3DD68794-59CD-48DC-A574-6DA3FC6847EF}" dt="2026-01-13T20:03:09.114" v="28" actId="22"/>
          <ac:spMkLst>
            <pc:docMk/>
            <pc:sldMk cId="0" sldId="257"/>
            <ac:spMk id="19" creationId="{A0E9219B-21B3-DAD0-0343-909711531BDE}"/>
          </ac:spMkLst>
        </pc:spChg>
      </pc:sldChg>
      <pc:sldChg chg="modSp mod">
        <pc:chgData name="Chen Chen" userId="8a8611c0-0ea2-4276-b3d1-8d1a06cb7c9c" providerId="ADAL" clId="{3DD68794-59CD-48DC-A574-6DA3FC6847EF}" dt="2026-01-13T21:14:48.120" v="1496" actId="1076"/>
        <pc:sldMkLst>
          <pc:docMk/>
          <pc:sldMk cId="0" sldId="258"/>
        </pc:sldMkLst>
        <pc:spChg chg="mod">
          <ac:chgData name="Chen Chen" userId="8a8611c0-0ea2-4276-b3d1-8d1a06cb7c9c" providerId="ADAL" clId="{3DD68794-59CD-48DC-A574-6DA3FC6847EF}" dt="2026-01-13T21:14:35.261" v="149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1:14:38.519" v="1494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1:13:57.683" v="1478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1:14:42.231" v="1495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1:14:21.629" v="148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1:14:48.120" v="1496" actId="1076"/>
          <ac:spMkLst>
            <pc:docMk/>
            <pc:sldMk cId="0" sldId="258"/>
            <ac:spMk id="19" creationId="{00000000-0000-0000-0000-000000000000}"/>
          </ac:spMkLst>
        </pc:spChg>
        <pc:picChg chg="mod">
          <ac:chgData name="Chen Chen" userId="8a8611c0-0ea2-4276-b3d1-8d1a06cb7c9c" providerId="ADAL" clId="{3DD68794-59CD-48DC-A574-6DA3FC6847EF}" dt="2026-01-13T21:13:53.328" v="1477" actId="1076"/>
          <ac:picMkLst>
            <pc:docMk/>
            <pc:sldMk cId="0" sldId="258"/>
            <ac:picMk id="14" creationId="{00000000-0000-0000-0000-000000000000}"/>
          </ac:picMkLst>
        </pc:picChg>
        <pc:picChg chg="mod">
          <ac:chgData name="Chen Chen" userId="8a8611c0-0ea2-4276-b3d1-8d1a06cb7c9c" providerId="ADAL" clId="{3DD68794-59CD-48DC-A574-6DA3FC6847EF}" dt="2026-01-13T21:14:13.242" v="1483" actId="1076"/>
          <ac:picMkLst>
            <pc:docMk/>
            <pc:sldMk cId="0" sldId="258"/>
            <ac:picMk id="17" creationId="{00000000-0000-0000-0000-000000000000}"/>
          </ac:picMkLst>
        </pc:picChg>
      </pc:sldChg>
      <pc:sldChg chg="modSp mod modNotesTx">
        <pc:chgData name="Chen Chen" userId="8a8611c0-0ea2-4276-b3d1-8d1a06cb7c9c" providerId="ADAL" clId="{3DD68794-59CD-48DC-A574-6DA3FC6847EF}" dt="2026-01-13T20:18:45.268" v="560" actId="20577"/>
        <pc:sldMkLst>
          <pc:docMk/>
          <pc:sldMk cId="0" sldId="259"/>
        </pc:sldMkLst>
        <pc:spChg chg="mod">
          <ac:chgData name="Chen Chen" userId="8a8611c0-0ea2-4276-b3d1-8d1a06cb7c9c" providerId="ADAL" clId="{3DD68794-59CD-48DC-A574-6DA3FC6847EF}" dt="2026-01-13T20:18:45.268" v="560" actId="20577"/>
          <ac:spMkLst>
            <pc:docMk/>
            <pc:sldMk cId="0" sldId="259"/>
            <ac:spMk id="17" creationId="{00000000-0000-0000-0000-000000000000}"/>
          </ac:spMkLst>
        </pc:spChg>
      </pc:sldChg>
      <pc:sldChg chg="modSp mod modNotesTx">
        <pc:chgData name="Chen Chen" userId="8a8611c0-0ea2-4276-b3d1-8d1a06cb7c9c" providerId="ADAL" clId="{3DD68794-59CD-48DC-A574-6DA3FC6847EF}" dt="2026-01-13T20:19:09.854" v="566" actId="14100"/>
        <pc:sldMkLst>
          <pc:docMk/>
          <pc:sldMk cId="0" sldId="260"/>
        </pc:sldMkLst>
        <pc:spChg chg="mod">
          <ac:chgData name="Chen Chen" userId="8a8611c0-0ea2-4276-b3d1-8d1a06cb7c9c" providerId="ADAL" clId="{3DD68794-59CD-48DC-A574-6DA3FC6847EF}" dt="2026-01-13T20:18:51.544" v="561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19:06.937" v="565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19:09.854" v="566" actId="14100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Chen Chen" userId="8a8611c0-0ea2-4276-b3d1-8d1a06cb7c9c" providerId="ADAL" clId="{3DD68794-59CD-48DC-A574-6DA3FC6847EF}" dt="2026-01-13T20:35:44.788" v="570" actId="14100"/>
        <pc:sldMkLst>
          <pc:docMk/>
          <pc:sldMk cId="0" sldId="261"/>
        </pc:sldMkLst>
        <pc:spChg chg="mod">
          <ac:chgData name="Chen Chen" userId="8a8611c0-0ea2-4276-b3d1-8d1a06cb7c9c" providerId="ADAL" clId="{3DD68794-59CD-48DC-A574-6DA3FC6847EF}" dt="2026-01-13T20:35:37.354" v="568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35:41.648" v="569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35:34.271" v="567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35:44.788" v="570" actId="14100"/>
          <ac:spMkLst>
            <pc:docMk/>
            <pc:sldMk cId="0" sldId="261"/>
            <ac:spMk id="16" creationId="{00000000-0000-0000-0000-000000000000}"/>
          </ac:spMkLst>
        </pc:spChg>
      </pc:sldChg>
      <pc:sldChg chg="modSp mod modNotesTx">
        <pc:chgData name="Chen Chen" userId="8a8611c0-0ea2-4276-b3d1-8d1a06cb7c9c" providerId="ADAL" clId="{3DD68794-59CD-48DC-A574-6DA3FC6847EF}" dt="2026-01-13T20:59:29.181" v="1473" actId="20577"/>
        <pc:sldMkLst>
          <pc:docMk/>
          <pc:sldMk cId="0" sldId="262"/>
        </pc:sldMkLst>
        <pc:spChg chg="mod">
          <ac:chgData name="Chen Chen" userId="8a8611c0-0ea2-4276-b3d1-8d1a06cb7c9c" providerId="ADAL" clId="{3DD68794-59CD-48DC-A574-6DA3FC6847EF}" dt="2026-01-13T20:41:28.064" v="587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41:22.806" v="586" actId="20577"/>
          <ac:spMkLst>
            <pc:docMk/>
            <pc:sldMk cId="0" sldId="262"/>
            <ac:spMk id="6" creationId="{00000000-0000-0000-0000-000000000000}"/>
          </ac:spMkLst>
        </pc:spChg>
        <pc:picChg chg="mod modCrop">
          <ac:chgData name="Chen Chen" userId="8a8611c0-0ea2-4276-b3d1-8d1a06cb7c9c" providerId="ADAL" clId="{3DD68794-59CD-48DC-A574-6DA3FC6847EF}" dt="2026-01-13T20:36:52.419" v="580" actId="1076"/>
          <ac:picMkLst>
            <pc:docMk/>
            <pc:sldMk cId="0" sldId="262"/>
            <ac:picMk id="10" creationId="{00000000-0000-0000-0000-000000000000}"/>
          </ac:picMkLst>
        </pc:picChg>
        <pc:picChg chg="mod">
          <ac:chgData name="Chen Chen" userId="8a8611c0-0ea2-4276-b3d1-8d1a06cb7c9c" providerId="ADAL" clId="{3DD68794-59CD-48DC-A574-6DA3FC6847EF}" dt="2026-01-13T20:36:42.987" v="576" actId="1440"/>
          <ac:picMkLst>
            <pc:docMk/>
            <pc:sldMk cId="0" sldId="262"/>
            <ac:picMk id="13" creationId="{00000000-0000-0000-0000-000000000000}"/>
          </ac:picMkLst>
        </pc:picChg>
      </pc:sldChg>
      <pc:sldChg chg="modNotesTx">
        <pc:chgData name="Chen Chen" userId="8a8611c0-0ea2-4276-b3d1-8d1a06cb7c9c" providerId="ADAL" clId="{3DD68794-59CD-48DC-A574-6DA3FC6847EF}" dt="2026-01-13T20:41:05.705" v="585" actId="20577"/>
        <pc:sldMkLst>
          <pc:docMk/>
          <pc:sldMk cId="0" sldId="263"/>
        </pc:sldMkLst>
      </pc:sldChg>
      <pc:sldChg chg="delSp modSp mod">
        <pc:chgData name="Chen Chen" userId="8a8611c0-0ea2-4276-b3d1-8d1a06cb7c9c" providerId="ADAL" clId="{3DD68794-59CD-48DC-A574-6DA3FC6847EF}" dt="2026-01-13T20:02:15.719" v="25" actId="14100"/>
        <pc:sldMkLst>
          <pc:docMk/>
          <pc:sldMk cId="0" sldId="264"/>
        </pc:sldMkLst>
        <pc:spChg chg="mod">
          <ac:chgData name="Chen Chen" userId="8a8611c0-0ea2-4276-b3d1-8d1a06cb7c9c" providerId="ADAL" clId="{3DD68794-59CD-48DC-A574-6DA3FC6847EF}" dt="2026-01-13T20:02:07.973" v="23" actId="14100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Chen Chen" userId="8a8611c0-0ea2-4276-b3d1-8d1a06cb7c9c" providerId="ADAL" clId="{3DD68794-59CD-48DC-A574-6DA3FC6847EF}" dt="2026-01-13T20:01:11.034" v="9" actId="478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Chen Chen" userId="8a8611c0-0ea2-4276-b3d1-8d1a06cb7c9c" providerId="ADAL" clId="{3DD68794-59CD-48DC-A574-6DA3FC6847EF}" dt="2026-01-13T20:01:13.415" v="11" actId="478"/>
          <ac:spMkLst>
            <pc:docMk/>
            <pc:sldMk cId="0" sldId="264"/>
            <ac:spMk id="9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02:04.787" v="22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hen Chen" userId="8a8611c0-0ea2-4276-b3d1-8d1a06cb7c9c" providerId="ADAL" clId="{3DD68794-59CD-48DC-A574-6DA3FC6847EF}" dt="2026-01-13T20:02:04.787" v="22" actId="1076"/>
          <ac:spMkLst>
            <pc:docMk/>
            <pc:sldMk cId="0" sldId="264"/>
            <ac:spMk id="12" creationId="{00000000-0000-0000-0000-000000000000}"/>
          </ac:spMkLst>
        </pc:spChg>
        <pc:picChg chg="mod">
          <ac:chgData name="Chen Chen" userId="8a8611c0-0ea2-4276-b3d1-8d1a06cb7c9c" providerId="ADAL" clId="{3DD68794-59CD-48DC-A574-6DA3FC6847EF}" dt="2026-01-13T20:02:15.719" v="25" actId="14100"/>
          <ac:picMkLst>
            <pc:docMk/>
            <pc:sldMk cId="0" sldId="264"/>
            <ac:picMk id="7" creationId="{00000000-0000-0000-0000-000000000000}"/>
          </ac:picMkLst>
        </pc:picChg>
        <pc:picChg chg="del mod">
          <ac:chgData name="Chen Chen" userId="8a8611c0-0ea2-4276-b3d1-8d1a06cb7c9c" providerId="ADAL" clId="{3DD68794-59CD-48DC-A574-6DA3FC6847EF}" dt="2026-01-13T20:01:14.003" v="12" actId="478"/>
          <ac:picMkLst>
            <pc:docMk/>
            <pc:sldMk cId="0" sldId="264"/>
            <ac:picMk id="10" creationId="{00000000-0000-0000-0000-000000000000}"/>
          </ac:picMkLst>
        </pc:picChg>
        <pc:picChg chg="mod">
          <ac:chgData name="Chen Chen" userId="8a8611c0-0ea2-4276-b3d1-8d1a06cb7c9c" providerId="ADAL" clId="{3DD68794-59CD-48DC-A574-6DA3FC6847EF}" dt="2026-01-13T20:02:04.787" v="22" actId="1076"/>
          <ac:picMkLst>
            <pc:docMk/>
            <pc:sldMk cId="0" sldId="264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80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 of this project was to build a data-driven way to estimate vehicle sale prices using historical auction data.</a:t>
            </a:r>
          </a:p>
          <a:p>
            <a:r>
              <a:rPr lang="en-US" dirty="0"/>
              <a:t>This presentation is a high-level overview of </a:t>
            </a:r>
            <a:r>
              <a:rPr lang="en-US" i="1" dirty="0"/>
              <a:t>what we built, why we built it, how machine learning helped</a:t>
            </a:r>
            <a:r>
              <a:rPr lang="en-US" dirty="0"/>
              <a:t>, and what the results mean from a business perspective.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objective was to predict vehicle sale prices more consistently and accurately than manual estimation.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Machine learning allows models to learn patterns directly from historical data rather than relying on fixed rules.</a:t>
            </a:r>
          </a:p>
          <a:p>
            <a:r>
              <a:rPr lang="en-US" dirty="0"/>
              <a:t>In this case, we used </a:t>
            </a:r>
            <a:r>
              <a:rPr lang="en-US" b="1" dirty="0"/>
              <a:t>regression-based machine learning</a:t>
            </a:r>
            <a:r>
              <a:rPr lang="en-US" dirty="0"/>
              <a:t>, where the model predicts a continuous number — the vehicle price.</a:t>
            </a:r>
          </a:p>
          <a:p>
            <a:r>
              <a:rPr lang="en-US" dirty="0"/>
              <a:t>The model learns how vehicle attributes like mileage, age, engine type, and condition historically relate to sale prices, and then applies that learning to new vehicles.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in the project, the data was not well structured and contained inconsistencies.</a:t>
            </a:r>
          </a:p>
          <a:p>
            <a:r>
              <a:rPr lang="en-US" dirty="0"/>
              <a:t>Cleaning the data helped reduce noise and improve reliability.</a:t>
            </a:r>
          </a:p>
          <a:p>
            <a:r>
              <a:rPr lang="en-US" dirty="0"/>
              <a:t>More importantly, feature engineering allowed us to extract additional information that was not explicitly available in the raw dataset.</a:t>
            </a:r>
          </a:p>
          <a:p>
            <a:r>
              <a:rPr lang="en-US" dirty="0"/>
              <a:t>This step had a meaningful impact on model accuracy and stability.</a:t>
            </a:r>
          </a:p>
          <a:p>
            <a:endParaRPr lang="en-US" dirty="0"/>
          </a:p>
          <a:p>
            <a:r>
              <a:rPr lang="en-US" dirty="0"/>
              <a:t>After I finished the initial data cleaning, the effect was not significant and it will require manual effort forever.</a:t>
            </a:r>
          </a:p>
          <a:p>
            <a:r>
              <a:rPr lang="en-US" dirty="0"/>
              <a:t>A key improvement came from VIN decoding, which Shane pointed out as a great opportunity.</a:t>
            </a:r>
          </a:p>
          <a:p>
            <a:r>
              <a:rPr lang="en-US" dirty="0"/>
              <a:t>The VIN contains standardized information about the vehicle that wasn’t fully captured in the original data.</a:t>
            </a:r>
          </a:p>
          <a:p>
            <a:r>
              <a:rPr lang="en-US" dirty="0"/>
              <a:t>By decoding it through python, we were able to add features like engine type, drivetrain, fuel type, and body class. The data is from the NHTSA which is a public database so they are all standardized.</a:t>
            </a:r>
          </a:p>
          <a:p>
            <a:endParaRPr lang="en-US" dirty="0"/>
          </a:p>
          <a:p>
            <a:r>
              <a:rPr lang="en-US" dirty="0"/>
              <a:t>This helped the model better differentiate between similar vehicles and reduced pricing error, especially in cases where metadata was incomplete. </a:t>
            </a:r>
          </a:p>
          <a:p>
            <a:endParaRPr lang="en-US" dirty="0"/>
          </a:p>
          <a:p>
            <a:r>
              <a:rPr lang="en-US" dirty="0"/>
              <a:t>As you may know it now becomes a weekly update where normally the workflow will run through 30000 cars and generate relevant information about the car.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evaluated several machine learning models to compare performance.</a:t>
            </a:r>
          </a:p>
          <a:p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CatBoost</a:t>
            </a:r>
            <a:r>
              <a:rPr lang="en-US" dirty="0"/>
              <a:t> are both gradient boosting models well suited for structured, tabular data.</a:t>
            </a:r>
          </a:p>
          <a:p>
            <a:r>
              <a:rPr lang="en-US" dirty="0" err="1"/>
              <a:t>CatBoost</a:t>
            </a:r>
            <a:r>
              <a:rPr lang="en-US" dirty="0"/>
              <a:t> performs particularly well with categorical features, which is important for vehicle attributes.</a:t>
            </a:r>
          </a:p>
          <a:p>
            <a:r>
              <a:rPr lang="en-US" dirty="0"/>
              <a:t>The stacked model combines multiple models together, allowing it to balance strengths and reduce individual model weaknesses.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evaluated models using several metrics to get a complete picture of performance.</a:t>
            </a:r>
          </a:p>
          <a:p>
            <a:r>
              <a:rPr lang="en-US" dirty="0"/>
              <a:t>MAE tells us, on average, how many dollars the prediction is off.</a:t>
            </a:r>
          </a:p>
          <a:p>
            <a:r>
              <a:rPr lang="en-US" dirty="0"/>
              <a:t>RMSE penalizes large errors more heavily, which helps identify risk from big mispricing.</a:t>
            </a:r>
          </a:p>
          <a:p>
            <a:r>
              <a:rPr lang="en-US" dirty="0"/>
              <a:t>MAPE shows percentage error, which is easier to interpret across different price ranges.</a:t>
            </a:r>
          </a:p>
          <a:p>
            <a:r>
              <a:rPr lang="en-US" dirty="0"/>
              <a:t>R-squared measures how much of the variation in prices the model can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Across all sample sizes, the models performed consistently well.</a:t>
            </a:r>
          </a:p>
          <a:p>
            <a:r>
              <a:rPr lang="en-US" dirty="0"/>
              <a:t>R-squared values ranged from roughly 89% to 94%, meaning the models explain most of the price variation.</a:t>
            </a:r>
          </a:p>
          <a:p>
            <a:endParaRPr lang="en-US" dirty="0"/>
          </a:p>
          <a:p>
            <a:r>
              <a:rPr lang="en-US" dirty="0"/>
              <a:t>MAPE stayed around 15–16%, which is considered solid for vehicle pricing applications.</a:t>
            </a:r>
          </a:p>
          <a:p>
            <a:endParaRPr lang="en-US" dirty="0"/>
          </a:p>
          <a:p>
            <a:r>
              <a:rPr lang="en-US" dirty="0"/>
              <a:t>As expected, larger samples improved stability, and the XGB model performed best overall on large sample.</a:t>
            </a:r>
          </a:p>
          <a:p>
            <a:endParaRPr lang="en-US" dirty="0"/>
          </a:p>
          <a:p>
            <a:r>
              <a:rPr lang="en-US" dirty="0"/>
              <a:t>The initial goal was to get MAE to lower than $500, as I was improving the model at some point it stopped having big improvements anymore so I tested cars with exact same stats in our database, the average variance was $1500, which aligns with what we have at the end so that’s why I think it is a good stopping point to finishing up the model development and move to deployment or implementation stage. </a:t>
            </a:r>
          </a:p>
          <a:p>
            <a:endParaRPr lang="en-US" dirty="0"/>
          </a:p>
          <a:p>
            <a:r>
              <a:rPr lang="en-US" dirty="0"/>
              <a:t>Performance remained stable across different dataset sizes, which increases confidence in real-world applicability.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here, the model can be further improved by incorporating more recent data and refining vehicle condition indicators.</a:t>
            </a:r>
          </a:p>
          <a:p>
            <a:r>
              <a:rPr lang="en-US" dirty="0"/>
              <a:t>We could also segment models by vehicle category or market to improve precision.</a:t>
            </a:r>
          </a:p>
          <a:p>
            <a:endParaRPr lang="en-US" dirty="0"/>
          </a:p>
          <a:p>
            <a:r>
              <a:rPr lang="en-US" dirty="0"/>
              <a:t>Longer term, this could be deployed as a decision-support tool to assist pricing rather than replace judgment.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appendix contains the detailed metrics by model and sample size.</a:t>
            </a:r>
          </a:p>
          <a:p>
            <a:r>
              <a:rPr lang="en-US" dirty="0"/>
              <a:t>It’s included for transparency and deeper technical review if needed, but the earlier slides summarize the key conclusions.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_l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822960"/>
            <a:ext cx="685800" cy="685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Sale Price Prediction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841248" y="2331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project summary: VIN Decode + Machine Learning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822960" y="2926080"/>
            <a:ext cx="7223760" cy="128016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051560" y="30175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51560" y="33375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auction sale price from vehicle + sale attributes to improve pricing consistency and decision speed.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Business Goal &amp; Project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005840"/>
            <a:ext cx="56235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51560" y="11704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repeatable way to estimate expected sale price for a vehicle based on historical auction outcomes.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pricing guidance, anomaly detection (outliers), and faster decisioning.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51560"/>
            <a:ext cx="502920" cy="502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0" y="1005840"/>
            <a:ext cx="4572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99516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(what was built)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995160" y="150876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Cleaned and standardized an initially unorganized dataset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Added new vehicle attributes via VIN Decode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multiple ML models (XGB, CatBoost, ensemble/stacked)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Evaluated on 2k / 8k / 30k record test samples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749040"/>
            <a:ext cx="10515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05156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51560" y="425196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largest sample (30k), models achieved ~93% R² and typically missed by about $1.3k (MAE).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indicates the approach is viable, with clear next steps to improve data quality and move toward production deployment.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What is Machine Learning (and why it helps here)?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78992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00584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51560" y="1170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one sentence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4937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uses labeled historical examples to learn patterns, then predicts outputs for new (unseen) cases.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005840"/>
            <a:ext cx="4846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720840" y="11704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 = Regression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20840" y="14813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a continuous number: the expected sale price ($).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429000"/>
            <a:ext cx="310648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13164" y="36153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data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329" y="3776472"/>
            <a:ext cx="457200" cy="457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3429000"/>
            <a:ext cx="2926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709160" y="35890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388" y="3785616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431016" y="34290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613896" y="35890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price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vehicles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749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helps: it scales pattern-finding across thousands of variables and interactions that are hard to model manually.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Data Preparation &amp; VIN Decode (feature engineering)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005840"/>
            <a:ext cx="56235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51560" y="11704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(what it means)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166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standardize the source data so the model sees consistent signals.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align column types, handle missing values, and remove obvious noise/outliers.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051560"/>
            <a:ext cx="502920" cy="502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0" y="1005840"/>
            <a:ext cx="4572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99516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Decode (why it mattered)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995160" y="1508760"/>
            <a:ext cx="41148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is a unique 17-character identifier. Decoding it adds vehicle attributes (make/model/year/features) that strengthen price signals.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added after identifying VIN as an underused source of signal.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79476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1051560" y="3950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VIN location (windshield)</a:t>
            </a:r>
            <a:endParaRPr lang="en-US" sz="1400" dirty="0"/>
          </a:p>
        </p:txBody>
      </p:sp>
      <p:pic>
        <p:nvPicPr>
          <p:cNvPr id="15" name="Image 2" descr="/mnt/data/vin_windshiel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297680"/>
            <a:ext cx="4937760" cy="1691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766560" y="3794760"/>
            <a:ext cx="45720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995160" y="39502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95160" y="4279392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transforms raw data into model-ready inputs.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project, VIN Decode was the highest-impact feature step.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Model Options (what each does)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155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multiple tree-based models + an ensemble: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51560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(XGB)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22402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decision trees; builds many small trees sequentially to reduce prediction errors. Strong baseline for tabular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73736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1901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0" y="22402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optimized for categorical features. Often performs well with minimal preprocessing of high-cardinality categories.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1737360"/>
            <a:ext cx="3291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92440" y="1901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model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92440" y="2240280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that combines predictions from multiple base models using a final regressor (meta-model) to improve robustness.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3886200"/>
            <a:ext cx="10515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51560" y="40416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tree-based models are a good fit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51560" y="4370832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non-linear relationships (e.g., age/mileage impacts differ by segment)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well with mixed numeric + categorical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feature importance analysis for business explainability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How we evaluate the model (metrics)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155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answers a different performance question: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51560" y="19476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(Mean Absolute Error)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2286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$ error. Interpretable: “typically off by about $X”.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37960" y="194767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(Root Mean Squared Error)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286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MAE, but penalizes large misses more (squares errors before averaging).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3246120"/>
            <a:ext cx="5120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51560" y="3410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(Mean Absolute Percentage Error)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as a percentage of actual price; helpful for comparing across price bands.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3246120"/>
            <a:ext cx="5349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537960" y="34107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(Coefficient of Determination)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price variance is explained (1.0 is best; 0 means “predicting the average”).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484632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983480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71600" y="493776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 multiple metrics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71600" y="525780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is easy to interpret; RMSE highlights risk of big misses; MAPE normalizes by price; R² summarizes overall fit.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Results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005840"/>
            <a:ext cx="10515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models by sample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1463040"/>
          <a:ext cx="9601200" cy="13898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($1,535)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(16.45%)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CatBoost_Native (94.19%)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($1,589)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(15.34%)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(89.59%)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($1,259)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(15.52%)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 (93.31%)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822960" y="3200400"/>
            <a:ext cx="51663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51560" y="33375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across sample sizes</a:t>
            </a:r>
            <a:endParaRPr lang="en-US" sz="1200" dirty="0"/>
          </a:p>
        </p:txBody>
      </p:sp>
      <p:pic>
        <p:nvPicPr>
          <p:cNvPr id="10" name="Image 0" descr="/mnt/data/mape_comparison.png"/>
          <p:cNvPicPr>
            <a:picLocks noChangeAspect="1"/>
          </p:cNvPicPr>
          <p:nvPr/>
        </p:nvPicPr>
        <p:blipFill>
          <a:blip r:embed="rId3"/>
          <a:srcRect b="800"/>
          <a:stretch>
            <a:fillRect/>
          </a:stretch>
        </p:blipFill>
        <p:spPr>
          <a:xfrm>
            <a:off x="937260" y="3611880"/>
            <a:ext cx="4937760" cy="22677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Shape 7"/>
          <p:cNvSpPr/>
          <p:nvPr/>
        </p:nvSpPr>
        <p:spPr>
          <a:xfrm>
            <a:off x="6172200" y="3200400"/>
            <a:ext cx="51663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400800" y="33375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across sample sizes</a:t>
            </a:r>
            <a:endParaRPr lang="en-US" sz="1200" dirty="0"/>
          </a:p>
        </p:txBody>
      </p:sp>
      <p:pic>
        <p:nvPicPr>
          <p:cNvPr id="13" name="Image 1" descr="/mnt/data/mae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11880"/>
            <a:ext cx="4937760" cy="2286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614476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61081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as sample size grows, MAE drops to ~ $1.26k on the 30k sample; MAPE stabilizes around 15–16%.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Recommendations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155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recommend reporting / proposing next: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5623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51560" y="194767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 improvements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2286000"/>
            <a:ext cx="51663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Continue cleaning: ensure consistent schema, reduce missingness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VIN decode coverage and validate decoded fields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high-signal variables (e.g., condition, trim, mileage integrity, location/time effects)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data quality checks so the pipeline is reliable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66560" y="1783080"/>
            <a:ext cx="45720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95160" y="1947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deployment path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95160" y="2286000"/>
            <a:ext cx="411480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on larger/full dataset and evaluate by segment (make/model/year)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Pick a “production candidate” (XGB vs Stacked) based on stability + explainability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explainability outputs (top drivers of price)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how the prediction will be consumed (dashboard / API / pricing tool)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up monitoring (drift, error by segment)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6355080"/>
            <a:ext cx="105156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51560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from leadership: prioritize data readiness + identify first operational workflow for using price predictions.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D4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Provided Sample Test Result Screenshots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0" y="1645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005839"/>
            <a:ext cx="10515600" cy="21337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1155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record sample</a:t>
            </a:r>
            <a:endParaRPr lang="en-US" sz="1400" dirty="0"/>
          </a:p>
        </p:txBody>
      </p:sp>
      <p:pic>
        <p:nvPicPr>
          <p:cNvPr id="7" name="Image 0" descr="/mnt/data/6e2a33bf-d396-433c-925e-c1e12713e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71599"/>
            <a:ext cx="10195560" cy="164344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2960" y="3267621"/>
            <a:ext cx="104698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051560" y="3386493"/>
            <a:ext cx="1010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record sample</a:t>
            </a:r>
            <a:endParaRPr lang="en-US" sz="1400" dirty="0"/>
          </a:p>
        </p:txBody>
      </p:sp>
      <p:pic>
        <p:nvPicPr>
          <p:cNvPr id="13" name="Image 2" descr="/mnt/data/84d1dae2-9dea-46d2-b7b4-2ff7b8e2a3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0813"/>
            <a:ext cx="10104120" cy="23774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– Vehicle Price Prediction | High-level summary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51C71C288B074BAEFE6694798CFB93" ma:contentTypeVersion="21" ma:contentTypeDescription="Create a new document." ma:contentTypeScope="" ma:versionID="b68724b15a557f081777c65d893ec794">
  <xsd:schema xmlns:xsd="http://www.w3.org/2001/XMLSchema" xmlns:xs="http://www.w3.org/2001/XMLSchema" xmlns:p="http://schemas.microsoft.com/office/2006/metadata/properties" xmlns:ns2="39b54077-200f-4b4d-9081-e484359efe16" xmlns:ns3="303081e8-314b-4384-acae-c3d0f9c7005c" targetNamespace="http://schemas.microsoft.com/office/2006/metadata/properties" ma:root="true" ma:fieldsID="b6e94f5935370bca785f6a23752398ca" ns2:_="" ns3:_="">
    <xsd:import namespace="39b54077-200f-4b4d-9081-e484359efe16"/>
    <xsd:import namespace="303081e8-314b-4384-acae-c3d0f9c7005c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lcf76f155ced4ddcb4097134ff3c332f0" minOccurs="0"/>
                <xsd:element ref="ns2:MediaServiceMetadata" minOccurs="0"/>
                <xsd:element ref="ns2:MediaServiceFastMetadata" minOccurs="0"/>
                <xsd:element ref="ns2:lcf76f155ced4ddcb4097134ff3c332f1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2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54077-200f-4b4d-9081-e484359efe16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lcf76f155ced4ddcb4097134ff3c332f0" ma:index="11" nillable="true" ma:displayName="Image Tags_0" ma:hidden="true" ma:internalName="lcf76f155ced4ddcb4097134ff3c332f0" ma:readOnly="false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1" ma:index="14" nillable="true" ma:displayName="Image Tags_0" ma:hidden="true" ma:internalName="lcf76f155ced4ddcb4097134ff3c332f1" ma:readOnly="fals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2" ma:index="19" nillable="true" ma:displayName="Image Tags_0" ma:hidden="true" ma:internalName="lcf76f155ced4ddcb4097134ff3c332f2" ma:readOnly="fals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8721412-8c4c-48b5-8d4d-c8fdeb8e09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3081e8-314b-4384-acae-c3d0f9c7005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b6a0da4-0952-4507-9969-1a73a2760efc}" ma:internalName="TaxCatchAll" ma:showField="CatchAllData" ma:web="303081e8-314b-4384-acae-c3d0f9c700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2 xmlns="39b54077-200f-4b4d-9081-e484359efe16" xsi:nil="true"/>
    <MigrationWizId xmlns="39b54077-200f-4b4d-9081-e484359efe16" xsi:nil="true"/>
    <MigrationWizIdVersion xmlns="39b54077-200f-4b4d-9081-e484359efe16" xsi:nil="true"/>
    <lcf76f155ced4ddcb4097134ff3c332f0 xmlns="39b54077-200f-4b4d-9081-e484359efe16" xsi:nil="true"/>
    <lcf76f155ced4ddcb4097134ff3c332f1 xmlns="39b54077-200f-4b4d-9081-e484359efe16" xsi:nil="true"/>
    <MigrationWizIdPermissions xmlns="39b54077-200f-4b4d-9081-e484359efe16" xsi:nil="true"/>
    <TaxCatchAll xmlns="303081e8-314b-4384-acae-c3d0f9c7005c" xsi:nil="true"/>
    <lcf76f155ced4ddcb4097134ff3c332f xmlns="39b54077-200f-4b4d-9081-e484359efe1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9888FF-E282-4786-AC77-7C5034D75996}"/>
</file>

<file path=customXml/itemProps2.xml><?xml version="1.0" encoding="utf-8"?>
<ds:datastoreItem xmlns:ds="http://schemas.openxmlformats.org/officeDocument/2006/customXml" ds:itemID="{6259A354-C157-4AB0-8140-3EF751EC5A5F}"/>
</file>

<file path=customXml/itemProps3.xml><?xml version="1.0" encoding="utf-8"?>
<ds:datastoreItem xmlns:ds="http://schemas.openxmlformats.org/officeDocument/2006/customXml" ds:itemID="{D2C0FC64-1E19-41A7-8658-A9F66BC5DE55}"/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1700</Words>
  <Application>Microsoft Office PowerPoint</Application>
  <PresentationFormat>Widescreen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America's Auto Auction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Vehicle Price Prediction – High Level Summary</dc:subject>
  <dc:creator>America's Auto Auction</dc:creator>
  <cp:lastModifiedBy>Chen Chen</cp:lastModifiedBy>
  <cp:revision>2</cp:revision>
  <dcterms:created xsi:type="dcterms:W3CDTF">2026-01-13T19:28:42Z</dcterms:created>
  <dcterms:modified xsi:type="dcterms:W3CDTF">2026-01-13T21:14:48Z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0x0101004351C71C288B074BAEFE6694798CFB93</vt:lpwstr>
  </property>
</Properties>
</file>